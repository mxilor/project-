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  <p:sldMasterId id="2147483858" r:id="rId2"/>
  </p:sldMasterIdLst>
  <p:notesMasterIdLst>
    <p:notesMasterId r:id="rId12"/>
  </p:notesMasterIdLst>
  <p:sldIdLst>
    <p:sldId id="256" r:id="rId3"/>
    <p:sldId id="261" r:id="rId4"/>
    <p:sldId id="279" r:id="rId5"/>
    <p:sldId id="275" r:id="rId6"/>
    <p:sldId id="278" r:id="rId7"/>
    <p:sldId id="276" r:id="rId8"/>
    <p:sldId id="277" r:id="rId9"/>
    <p:sldId id="280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6395" autoAdjust="0"/>
  </p:normalViewPr>
  <p:slideViewPr>
    <p:cSldViewPr snapToGrid="0">
      <p:cViewPr varScale="1">
        <p:scale>
          <a:sx n="109" d="100"/>
          <a:sy n="109" d="100"/>
        </p:scale>
        <p:origin x="546" y="10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80" d="100"/>
        <a:sy n="1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57D66-4715-4D51-A986-BD7179E1503D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945A6E-5907-4E5A-ADF9-7A215C3AC17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1871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151E-797C-4476-B507-5BF7A00CE495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A728-D029-430D-AF1D-724C2EA10AC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366193"/>
      </p:ext>
    </p:extLst>
  </p:cSld>
  <p:clrMapOvr>
    <a:masterClrMapping/>
  </p:clrMapOvr>
  <p:transition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151E-797C-4476-B507-5BF7A00CE495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A728-D029-430D-AF1D-724C2EA10AC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7955613"/>
      </p:ext>
    </p:extLst>
  </p:cSld>
  <p:clrMapOvr>
    <a:masterClrMapping/>
  </p:clrMapOvr>
  <p:transition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151E-797C-4476-B507-5BF7A00CE495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A728-D029-430D-AF1D-724C2EA10AC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3329540"/>
      </p:ext>
    </p:extLst>
  </p:cSld>
  <p:clrMapOvr>
    <a:masterClrMapping/>
  </p:clrMapOvr>
  <p:transition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151E-797C-4476-B507-5BF7A00CE495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A728-D029-430D-AF1D-724C2EA10AC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6787436"/>
      </p:ext>
    </p:extLst>
  </p:cSld>
  <p:clrMapOvr>
    <a:masterClrMapping/>
  </p:clrMapOvr>
  <p:transition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151E-797C-4476-B507-5BF7A00CE495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A728-D029-430D-AF1D-724C2EA10AC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424470"/>
      </p:ext>
    </p:extLst>
  </p:cSld>
  <p:clrMapOvr>
    <a:masterClrMapping/>
  </p:clrMapOvr>
  <p:transition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151E-797C-4476-B507-5BF7A00CE495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A728-D029-430D-AF1D-724C2EA10AC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439321"/>
      </p:ext>
    </p:extLst>
  </p:cSld>
  <p:clrMapOvr>
    <a:masterClrMapping/>
  </p:clrMapOvr>
  <p:transition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151E-797C-4476-B507-5BF7A00CE495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A728-D029-430D-AF1D-724C2EA10AC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0809810"/>
      </p:ext>
    </p:extLst>
  </p:cSld>
  <p:clrMapOvr>
    <a:masterClrMapping/>
  </p:clrMapOvr>
  <p:transition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151E-797C-4476-B507-5BF7A00CE495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A728-D029-430D-AF1D-724C2EA10AC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9566181"/>
      </p:ext>
    </p:extLst>
  </p:cSld>
  <p:clrMapOvr>
    <a:masterClrMapping/>
  </p:clrMapOvr>
  <p:transition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151E-797C-4476-B507-5BF7A00CE495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A728-D029-430D-AF1D-724C2EA10AC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383359"/>
      </p:ext>
    </p:extLst>
  </p:cSld>
  <p:clrMapOvr>
    <a:masterClrMapping/>
  </p:clrMapOvr>
  <p:transition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151E-797C-4476-B507-5BF7A00CE495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A728-D029-430D-AF1D-724C2EA10AC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9751297"/>
      </p:ext>
    </p:extLst>
  </p:cSld>
  <p:clrMapOvr>
    <a:masterClrMapping/>
  </p:clrMapOvr>
  <p:transition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151E-797C-4476-B507-5BF7A00CE495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A728-D029-430D-AF1D-724C2EA10AC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750809"/>
      </p:ext>
    </p:extLst>
  </p:cSld>
  <p:clrMapOvr>
    <a:masterClrMapping/>
  </p:clrMapOvr>
  <p:transition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D53151E-797C-4476-B507-5BF7A00CE495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A2A728-D029-430D-AF1D-724C2EA10ACD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077702"/>
      </p:ext>
    </p:extLst>
  </p:cSld>
  <p:clrMapOvr>
    <a:masterClrMapping/>
  </p:clrMapOvr>
  <p:transition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151E-797C-4476-B507-5BF7A00CE495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A728-D029-430D-AF1D-724C2EA10AC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424765"/>
      </p:ext>
    </p:extLst>
  </p:cSld>
  <p:clrMapOvr>
    <a:masterClrMapping/>
  </p:clrMapOvr>
  <p:transition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151E-797C-4476-B507-5BF7A00CE495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A728-D029-430D-AF1D-724C2EA10ACD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095780"/>
      </p:ext>
    </p:extLst>
  </p:cSld>
  <p:clrMapOvr>
    <a:masterClrMapping/>
  </p:clrMapOvr>
  <p:transition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151E-797C-4476-B507-5BF7A00CE495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A728-D029-430D-AF1D-724C2EA10AC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5129205"/>
      </p:ext>
    </p:extLst>
  </p:cSld>
  <p:clrMapOvr>
    <a:masterClrMapping/>
  </p:clrMapOvr>
  <p:transition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151E-797C-4476-B507-5BF7A00CE495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A728-D029-430D-AF1D-724C2EA10AC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6424700"/>
      </p:ext>
    </p:extLst>
  </p:cSld>
  <p:clrMapOvr>
    <a:masterClrMapping/>
  </p:clrMapOvr>
  <p:transition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151E-797C-4476-B507-5BF7A00CE495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A728-D029-430D-AF1D-724C2EA10AC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702118"/>
      </p:ext>
    </p:extLst>
  </p:cSld>
  <p:clrMapOvr>
    <a:masterClrMapping/>
  </p:clrMapOvr>
  <p:transition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151E-797C-4476-B507-5BF7A00CE495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A728-D029-430D-AF1D-724C2EA10AC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0013501"/>
      </p:ext>
    </p:extLst>
  </p:cSld>
  <p:clrMapOvr>
    <a:masterClrMapping/>
  </p:clrMapOvr>
  <p:transition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151E-797C-4476-B507-5BF7A00CE495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A728-D029-430D-AF1D-724C2EA10AC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6531417"/>
      </p:ext>
    </p:extLst>
  </p:cSld>
  <p:clrMapOvr>
    <a:masterClrMapping/>
  </p:clrMapOvr>
  <p:transition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151E-797C-4476-B507-5BF7A00CE495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A728-D029-430D-AF1D-724C2EA10AC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574653"/>
      </p:ext>
    </p:extLst>
  </p:cSld>
  <p:clrMapOvr>
    <a:masterClrMapping/>
  </p:clrMapOvr>
  <p:transition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151E-797C-4476-B507-5BF7A00CE495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A728-D029-430D-AF1D-724C2EA10AC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1420600"/>
      </p:ext>
    </p:extLst>
  </p:cSld>
  <p:clrMapOvr>
    <a:masterClrMapping/>
  </p:clrMapOvr>
  <p:transition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151E-797C-4476-B507-5BF7A00CE495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A728-D029-430D-AF1D-724C2EA10AC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090526"/>
      </p:ext>
    </p:extLst>
  </p:cSld>
  <p:clrMapOvr>
    <a:masterClrMapping/>
  </p:clrMapOvr>
  <p:transition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4">
                <a:lumMod val="89000"/>
              </a:schemeClr>
            </a:gs>
            <a:gs pos="23000">
              <a:schemeClr val="accent4">
                <a:lumMod val="89000"/>
              </a:schemeClr>
            </a:gs>
            <a:gs pos="69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D53151E-797C-4476-B507-5BF7A00CE495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A2A728-D029-430D-AF1D-724C2EA10AC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1049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ransition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89000"/>
              </a:schemeClr>
            </a:gs>
            <a:gs pos="23000">
              <a:schemeClr val="accent4">
                <a:lumMod val="89000"/>
              </a:schemeClr>
            </a:gs>
            <a:gs pos="69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0D53151E-797C-4476-B507-5BF7A00CE495}" type="datetimeFigureOut">
              <a:rPr lang="ru-RU" smtClean="0"/>
              <a:pPr/>
              <a:t>04.06.2022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8A2A728-D029-430D-AF1D-724C2EA10AC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6077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</p:sldLayoutIdLst>
  <p:transition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359731"/>
            <a:ext cx="9144000" cy="1358660"/>
          </a:xfrm>
        </p:spPr>
        <p:txBody>
          <a:bodyPr>
            <a:noAutofit/>
          </a:bodyPr>
          <a:lstStyle/>
          <a:p>
            <a:r>
              <a:rPr lang="ru-RU" sz="2800" dirty="0"/>
              <a:t>Проектирование и разработка базы данных ***</a:t>
            </a:r>
            <a:endParaRPr lang="ru-RU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032376" y="4437529"/>
            <a:ext cx="3935505" cy="1523999"/>
          </a:xfrm>
        </p:spPr>
        <p:txBody>
          <a:bodyPr>
            <a:noAutofit/>
          </a:bodyPr>
          <a:lstStyle/>
          <a:p>
            <a:pPr algn="l">
              <a:spcBef>
                <a:spcPts val="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Автор работы: </a:t>
            </a:r>
          </a:p>
          <a:p>
            <a:pPr algn="l">
              <a:spcBef>
                <a:spcPts val="0"/>
              </a:spcBef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Фамилия Имя Отчество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Научный руководитель: </a:t>
            </a:r>
          </a:p>
          <a:p>
            <a:pPr algn="l">
              <a:spcBef>
                <a:spcPts val="0"/>
              </a:spcBef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Фамилия Имя Отчество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902898" y="292891"/>
            <a:ext cx="103862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АВТОНОМНАЯ НЕКОММЕРЧЕСКАЯ </a:t>
            </a:r>
          </a:p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ПРОФЕССИОНАЛЬНАЯ ОБРАЗОВАТЕЛЬНАЯ ОРГАНИЗАЦИЯ</a:t>
            </a:r>
          </a:p>
          <a:p>
            <a:pPr algn="ctr"/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«ОМСКАЯ АКАДЕМИЯ ЭКОНОМИКИ И ПРЕДПРИНИМАТЕЛЬСТВА»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742954" y="6223828"/>
            <a:ext cx="4717774" cy="365125"/>
          </a:xfrm>
        </p:spPr>
        <p:txBody>
          <a:bodyPr/>
          <a:lstStyle/>
          <a:p>
            <a:r>
              <a:rPr lang="ru-RU" sz="1600" dirty="0" smtClean="0"/>
              <a:t>2022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391057096"/>
      </p:ext>
    </p:extLst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4784" y="410308"/>
            <a:ext cx="9872871" cy="5744307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ru-RU" sz="2800" b="1" dirty="0" smtClean="0"/>
              <a:t>Актуальность работы </a:t>
            </a:r>
            <a:r>
              <a:rPr lang="ru-RU" sz="2800" dirty="0" smtClean="0"/>
              <a:t>состоит в том, что ….. (1 -2 предложения).</a:t>
            </a:r>
          </a:p>
          <a:p>
            <a:pPr marL="45720" indent="0" algn="just">
              <a:buNone/>
            </a:pPr>
            <a:r>
              <a:rPr lang="ru-RU" sz="2800" b="1" dirty="0"/>
              <a:t>Объект</a:t>
            </a:r>
            <a:r>
              <a:rPr lang="ru-RU" sz="2800" dirty="0"/>
              <a:t> </a:t>
            </a:r>
            <a:r>
              <a:rPr lang="ru-RU" sz="2800" dirty="0" smtClean="0"/>
              <a:t>– </a:t>
            </a:r>
            <a:r>
              <a:rPr lang="ru-RU" sz="2800" dirty="0"/>
              <a:t>…...</a:t>
            </a:r>
          </a:p>
          <a:p>
            <a:pPr marL="45720" indent="0" algn="just">
              <a:buNone/>
            </a:pPr>
            <a:r>
              <a:rPr lang="ru-RU" sz="2800" b="1" dirty="0"/>
              <a:t>Предмет</a:t>
            </a:r>
            <a:r>
              <a:rPr lang="ru-RU" sz="2800" dirty="0"/>
              <a:t> </a:t>
            </a:r>
            <a:r>
              <a:rPr lang="ru-RU" sz="2800" dirty="0" smtClean="0"/>
              <a:t>– </a:t>
            </a:r>
            <a:r>
              <a:rPr lang="ru-RU" sz="2800" dirty="0"/>
              <a:t>…...</a:t>
            </a:r>
          </a:p>
          <a:p>
            <a:pPr marL="45720" indent="0" algn="just">
              <a:buNone/>
            </a:pPr>
            <a:r>
              <a:rPr lang="ru-RU" sz="2800" b="1" dirty="0" smtClean="0"/>
              <a:t>Цель</a:t>
            </a:r>
            <a:r>
              <a:rPr lang="ru-RU" sz="2800" dirty="0" smtClean="0"/>
              <a:t> -…..</a:t>
            </a:r>
            <a:endParaRPr lang="ru-RU" sz="2800" dirty="0"/>
          </a:p>
          <a:p>
            <a:pPr marL="45720" indent="0" algn="just">
              <a:buNone/>
            </a:pPr>
            <a:r>
              <a:rPr lang="ru-RU" sz="2800" b="1" dirty="0"/>
              <a:t>Задачи работы</a:t>
            </a:r>
            <a:r>
              <a:rPr lang="ru-RU" sz="2800" dirty="0"/>
              <a:t>: </a:t>
            </a:r>
          </a:p>
          <a:p>
            <a:pPr algn="just">
              <a:buFontTx/>
              <a:buChar char="―"/>
            </a:pPr>
            <a:r>
              <a:rPr lang="ru-RU" sz="2800" dirty="0"/>
              <a:t> Определить виды ….;</a:t>
            </a:r>
          </a:p>
          <a:p>
            <a:pPr algn="just">
              <a:buFontTx/>
              <a:buChar char="―"/>
            </a:pPr>
            <a:r>
              <a:rPr lang="ru-RU" sz="2800" dirty="0"/>
              <a:t> Рассмотреть …;</a:t>
            </a:r>
          </a:p>
          <a:p>
            <a:pPr algn="just">
              <a:buFontTx/>
              <a:buChar char="―"/>
            </a:pPr>
            <a:r>
              <a:rPr lang="ru-RU" sz="2800" dirty="0"/>
              <a:t> Выполнить …</a:t>
            </a:r>
          </a:p>
          <a:p>
            <a:pPr marL="45720" indent="0" algn="just">
              <a:buNone/>
            </a:pPr>
            <a:r>
              <a:rPr lang="ru-RU" sz="1600" dirty="0" smtClean="0">
                <a:solidFill>
                  <a:srgbClr val="FF0000"/>
                </a:solidFill>
              </a:rPr>
              <a:t>Актуальность, предмет, объект, цель, задачи должны быть из текстового документа один в один (делаем </a:t>
            </a:r>
            <a:r>
              <a:rPr lang="en-US" sz="1600" dirty="0" smtClean="0">
                <a:solidFill>
                  <a:srgbClr val="FF0000"/>
                </a:solidFill>
              </a:rPr>
              <a:t>CTRL+C, </a:t>
            </a:r>
            <a:r>
              <a:rPr lang="en-US" sz="1600" dirty="0" err="1" smtClean="0">
                <a:solidFill>
                  <a:srgbClr val="FF0000"/>
                </a:solidFill>
              </a:rPr>
              <a:t>Ctrl+V</a:t>
            </a:r>
            <a:r>
              <a:rPr lang="ru-RU" sz="1600" dirty="0" smtClean="0">
                <a:solidFill>
                  <a:srgbClr val="FF0000"/>
                </a:solidFill>
              </a:rPr>
              <a:t>)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0234965" y="6259686"/>
            <a:ext cx="1706217" cy="365125"/>
          </a:xfrm>
        </p:spPr>
        <p:txBody>
          <a:bodyPr/>
          <a:lstStyle/>
          <a:p>
            <a:fld id="{88A2A728-D029-430D-AF1D-724C2EA10ACD}" type="slidenum">
              <a:rPr lang="ru-RU" sz="1600" smtClean="0"/>
              <a:pPr/>
              <a:t>2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053215376"/>
      </p:ext>
    </p:extLst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228600" y="609600"/>
            <a:ext cx="11667392" cy="135636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 dirty="0" smtClean="0">
                <a:solidFill>
                  <a:schemeClr val="accent4">
                    <a:lumMod val="75000"/>
                  </a:schemeClr>
                </a:solidFill>
              </a:rPr>
              <a:t>Основные понятия баз данных</a:t>
            </a:r>
            <a:endParaRPr lang="ru-RU" sz="36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/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</a:pPr>
            <a:r>
              <a:rPr lang="ru-RU" dirty="0" smtClean="0"/>
              <a:t>В курсовой работе были рассмотрены следующие понятия:</a:t>
            </a:r>
          </a:p>
          <a:p>
            <a:pPr>
              <a:buFontTx/>
              <a:buChar char="-"/>
            </a:pPr>
            <a:r>
              <a:rPr lang="ru-RU" dirty="0" smtClean="0"/>
              <a:t>……</a:t>
            </a:r>
          </a:p>
          <a:p>
            <a:pPr>
              <a:buFontTx/>
              <a:buChar char="-"/>
            </a:pPr>
            <a:r>
              <a:rPr lang="ru-RU" dirty="0" smtClean="0"/>
              <a:t>…</a:t>
            </a:r>
          </a:p>
          <a:p>
            <a:pPr>
              <a:buFontTx/>
              <a:buChar char="-"/>
            </a:pPr>
            <a:r>
              <a:rPr lang="ru-RU" dirty="0" smtClean="0"/>
              <a:t>….</a:t>
            </a:r>
          </a:p>
          <a:p>
            <a:pPr>
              <a:buFontTx/>
              <a:buChar char="-"/>
            </a:pPr>
            <a:r>
              <a:rPr lang="ru-RU" dirty="0" smtClean="0"/>
              <a:t>….</a:t>
            </a:r>
          </a:p>
          <a:p>
            <a:pPr>
              <a:buFontTx/>
              <a:buChar char="-"/>
            </a:pPr>
            <a:endParaRPr lang="ru-RU" dirty="0"/>
          </a:p>
          <a:p>
            <a:pPr marL="45720" indent="0">
              <a:buNone/>
            </a:pPr>
            <a:r>
              <a:rPr lang="ru-RU" dirty="0" smtClean="0">
                <a:solidFill>
                  <a:srgbClr val="FF0000"/>
                </a:solidFill>
              </a:rPr>
              <a:t>Кратко написать про них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394946"/>
      </p:ext>
    </p:extLst>
  </p:cSld>
  <p:clrMapOvr>
    <a:masterClrMapping/>
  </p:clrMapOvr>
  <p:transition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dirty="0" smtClean="0"/>
              <a:t>В курсовой работе были рассмотрены следующие СУБД:</a:t>
            </a:r>
          </a:p>
          <a:p>
            <a:pPr>
              <a:buFontTx/>
              <a:buChar char="-"/>
            </a:pPr>
            <a:r>
              <a:rPr lang="ru-RU" dirty="0" smtClean="0"/>
              <a:t>……</a:t>
            </a:r>
          </a:p>
          <a:p>
            <a:pPr>
              <a:buFontTx/>
              <a:buChar char="-"/>
            </a:pPr>
            <a:r>
              <a:rPr lang="ru-RU" dirty="0" smtClean="0"/>
              <a:t>…</a:t>
            </a:r>
          </a:p>
          <a:p>
            <a:pPr>
              <a:buFontTx/>
              <a:buChar char="-"/>
            </a:pPr>
            <a:r>
              <a:rPr lang="ru-RU" dirty="0" smtClean="0"/>
              <a:t>….</a:t>
            </a:r>
          </a:p>
          <a:p>
            <a:pPr>
              <a:buFontTx/>
              <a:buChar char="-"/>
            </a:pPr>
            <a:r>
              <a:rPr lang="ru-RU" dirty="0" smtClean="0"/>
              <a:t>….</a:t>
            </a:r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11667392" cy="1356360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 smtClean="0">
                <a:solidFill>
                  <a:schemeClr val="accent4">
                    <a:lumMod val="75000"/>
                  </a:schemeClr>
                </a:solidFill>
              </a:rPr>
              <a:t>Современные технологии разработки баз данных</a:t>
            </a:r>
            <a:endParaRPr lang="ru-RU" sz="3600"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609497"/>
      </p:ext>
    </p:extLst>
  </p:cSld>
  <p:clrMapOvr>
    <a:masterClrMapping/>
  </p:clrMapOvr>
  <p:transition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7300" y="949569"/>
            <a:ext cx="9724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Рассмотреть и рассказать про одну из СУБД (лучше</a:t>
            </a:r>
            <a:r>
              <a:rPr lang="en-US" dirty="0" smtClean="0">
                <a:solidFill>
                  <a:srgbClr val="FF0000"/>
                </a:solidFill>
              </a:rPr>
              <a:t> MS</a:t>
            </a:r>
            <a:r>
              <a:rPr lang="ru-RU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SQL SERVER</a:t>
            </a:r>
            <a:r>
              <a:rPr lang="ru-RU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. </a:t>
            </a:r>
            <a:r>
              <a:rPr lang="ru-RU" dirty="0" smtClean="0">
                <a:solidFill>
                  <a:srgbClr val="FF0000"/>
                </a:solidFill>
              </a:rPr>
              <a:t>Должно совпадать с вашей текстовой работой. Текст выделяем основной и важный. Много текста не должно быть 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2335376"/>
      </p:ext>
    </p:extLst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dirty="0" smtClean="0"/>
              <a:t>…….</a:t>
            </a: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11667392" cy="1356360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 smtClean="0">
                <a:solidFill>
                  <a:schemeClr val="accent4">
                    <a:lumMod val="75000"/>
                  </a:schemeClr>
                </a:solidFill>
              </a:rPr>
              <a:t>Описание предметной области</a:t>
            </a:r>
            <a:endParaRPr lang="ru-RU" sz="3600"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387853"/>
      </p:ext>
    </p:extLst>
  </p:cSld>
  <p:clrMapOvr>
    <a:masterClrMapping/>
  </p:clrMapOvr>
  <p:transition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b="1" dirty="0" smtClean="0">
                <a:solidFill>
                  <a:schemeClr val="accent4">
                    <a:lumMod val="75000"/>
                  </a:schemeClr>
                </a:solidFill>
              </a:rPr>
              <a:t>Проектирование базы данных</a:t>
            </a:r>
            <a:endParaRPr lang="ru-RU" sz="36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28900" y="2154115"/>
            <a:ext cx="6506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Представить схему данных (</a:t>
            </a:r>
            <a:r>
              <a:rPr lang="en-US" dirty="0" smtClean="0">
                <a:solidFill>
                  <a:srgbClr val="FF0000"/>
                </a:solidFill>
              </a:rPr>
              <a:t>ER-</a:t>
            </a:r>
            <a:r>
              <a:rPr lang="ru-RU" dirty="0" smtClean="0">
                <a:solidFill>
                  <a:srgbClr val="FF0000"/>
                </a:solidFill>
              </a:rPr>
              <a:t>диаграмму) </a:t>
            </a:r>
            <a:endParaRPr lang="ru-RU" dirty="0" smtClean="0">
              <a:solidFill>
                <a:srgbClr val="FF0000"/>
              </a:solidFill>
            </a:endParaRPr>
          </a:p>
          <a:p>
            <a:r>
              <a:rPr lang="ru-RU" dirty="0" smtClean="0">
                <a:solidFill>
                  <a:srgbClr val="FF0000"/>
                </a:solidFill>
              </a:rPr>
              <a:t>Объяснить устно в </a:t>
            </a:r>
            <a:r>
              <a:rPr lang="ru-RU" dirty="0" smtClean="0">
                <a:solidFill>
                  <a:srgbClr val="FF0000"/>
                </a:solidFill>
              </a:rPr>
              <a:t>каких таблицах будет храниться информация, какие поля являются первичным ключом</a:t>
            </a:r>
          </a:p>
          <a:p>
            <a:r>
              <a:rPr lang="ru-RU" dirty="0">
                <a:solidFill>
                  <a:srgbClr val="FF0000"/>
                </a:solidFill>
              </a:rPr>
              <a:t>в</a:t>
            </a:r>
            <a:r>
              <a:rPr lang="ru-RU" dirty="0" smtClean="0">
                <a:solidFill>
                  <a:srgbClr val="FF0000"/>
                </a:solidFill>
              </a:rPr>
              <a:t>нешние ключи</a:t>
            </a:r>
          </a:p>
        </p:txBody>
      </p:sp>
    </p:spTree>
    <p:extLst>
      <p:ext uri="{BB962C8B-B14F-4D97-AF65-F5344CB8AC3E}">
        <p14:creationId xmlns:p14="http://schemas.microsoft.com/office/powerpoint/2010/main" val="1787077684"/>
      </p:ext>
    </p:extLst>
  </p:cSld>
  <p:clrMapOvr>
    <a:masterClrMapping/>
  </p:clrMapOvr>
  <p:transition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 dirty="0" smtClean="0">
                <a:solidFill>
                  <a:schemeClr val="accent4">
                    <a:lumMod val="75000"/>
                  </a:schemeClr>
                </a:solidFill>
              </a:rPr>
              <a:t>Обработка данных</a:t>
            </a:r>
            <a:endParaRPr lang="ru-RU" sz="36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18846" y="1965960"/>
            <a:ext cx="7429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Написать в чем состоит задача, которую решает ваш </a:t>
            </a:r>
            <a:r>
              <a:rPr lang="en-US" dirty="0" smtClean="0">
                <a:solidFill>
                  <a:srgbClr val="FF0000"/>
                </a:solidFill>
              </a:rPr>
              <a:t>SQL-</a:t>
            </a:r>
            <a:r>
              <a:rPr lang="ru-RU" dirty="0" smtClean="0">
                <a:solidFill>
                  <a:srgbClr val="FF0000"/>
                </a:solidFill>
              </a:rPr>
              <a:t>запрос</a:t>
            </a:r>
          </a:p>
          <a:p>
            <a:endParaRPr lang="ru-RU" dirty="0">
              <a:solidFill>
                <a:srgbClr val="FF0000"/>
              </a:solidFill>
            </a:endParaRPr>
          </a:p>
          <a:p>
            <a:r>
              <a:rPr lang="ru-RU" dirty="0" smtClean="0">
                <a:solidFill>
                  <a:srgbClr val="FF0000"/>
                </a:solidFill>
              </a:rPr>
              <a:t>Привести </a:t>
            </a:r>
            <a:r>
              <a:rPr lang="ru-RU" dirty="0" err="1" smtClean="0">
                <a:solidFill>
                  <a:srgbClr val="FF0000"/>
                </a:solidFill>
              </a:rPr>
              <a:t>скрины</a:t>
            </a:r>
            <a:r>
              <a:rPr lang="ru-RU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SQL-</a:t>
            </a:r>
            <a:r>
              <a:rPr lang="ru-RU" dirty="0" smtClean="0">
                <a:solidFill>
                  <a:srgbClr val="FF0000"/>
                </a:solidFill>
              </a:rPr>
              <a:t>запросов и результат их выполнения</a:t>
            </a:r>
          </a:p>
          <a:p>
            <a:r>
              <a:rPr lang="ru-RU" dirty="0" smtClean="0">
                <a:solidFill>
                  <a:srgbClr val="FF0000"/>
                </a:solidFill>
              </a:rPr>
              <a:t>Устно объяснить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306319"/>
      </p:ext>
    </p:extLst>
  </p:cSld>
  <p:clrMapOvr>
    <a:masterClrMapping/>
  </p:clrMapOvr>
  <p:transition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359731"/>
            <a:ext cx="9144000" cy="1358660"/>
          </a:xfrm>
        </p:spPr>
        <p:txBody>
          <a:bodyPr>
            <a:noAutofit/>
          </a:bodyPr>
          <a:lstStyle/>
          <a:p>
            <a:r>
              <a:rPr lang="ru-RU" sz="2800" dirty="0"/>
              <a:t>Проектирование и разработка базы данных ***</a:t>
            </a:r>
            <a:endParaRPr lang="ru-RU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032376" y="4437529"/>
            <a:ext cx="3935505" cy="1523999"/>
          </a:xfrm>
        </p:spPr>
        <p:txBody>
          <a:bodyPr>
            <a:noAutofit/>
          </a:bodyPr>
          <a:lstStyle/>
          <a:p>
            <a:pPr algn="l">
              <a:spcBef>
                <a:spcPts val="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Автор работы: </a:t>
            </a:r>
          </a:p>
          <a:p>
            <a:pPr algn="l">
              <a:spcBef>
                <a:spcPts val="0"/>
              </a:spcBef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Фамилия Имя Отчество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Научный руководитель: </a:t>
            </a:r>
          </a:p>
          <a:p>
            <a:pPr algn="l">
              <a:spcBef>
                <a:spcPts val="0"/>
              </a:spcBef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Фамилия Имя Отчество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902898" y="292891"/>
            <a:ext cx="103862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АВТОНОМНАЯ НЕКОММЕРЧЕСКАЯ </a:t>
            </a:r>
          </a:p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ПРОФЕССИОНАЛЬНАЯ ОБРАЗОВАТЕЛЬНАЯ ОРГАНИЗАЦИЯ</a:t>
            </a:r>
          </a:p>
          <a:p>
            <a:pPr algn="ctr"/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«ОМСКАЯ АКАДЕМИЯ ЭКОНОМИКИ И ПРЕДПРИНИМАТЕЛЬСТВА»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742954" y="6223828"/>
            <a:ext cx="4717774" cy="365125"/>
          </a:xfrm>
        </p:spPr>
        <p:txBody>
          <a:bodyPr/>
          <a:lstStyle/>
          <a:p>
            <a:r>
              <a:rPr lang="ru-RU" sz="1600" dirty="0" smtClean="0"/>
              <a:t>2022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486051995"/>
      </p:ext>
    </p:extLst>
  </p:cSld>
  <p:clrMapOvr>
    <a:masterClrMapping/>
  </p:clrMapOvr>
  <p:transition>
    <p:push dir="u"/>
  </p:transition>
</p:sld>
</file>

<file path=ppt/theme/theme1.xml><?xml version="1.0" encoding="utf-8"?>
<a:theme xmlns:a="http://schemas.openxmlformats.org/drawingml/2006/main" name="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Базис">
  <a:themeElements>
    <a:clrScheme name="Базис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Аспект</Template>
  <TotalTime>1136</TotalTime>
  <Words>243</Words>
  <Application>Microsoft Office PowerPoint</Application>
  <PresentationFormat>Широкоэкранный</PresentationFormat>
  <Paragraphs>56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Corbel</vt:lpstr>
      <vt:lpstr>Wingdings 2</vt:lpstr>
      <vt:lpstr>HDOfficeLightV0</vt:lpstr>
      <vt:lpstr>Базис</vt:lpstr>
      <vt:lpstr>Проектирование и разработка базы данных ***</vt:lpstr>
      <vt:lpstr>Презентация PowerPoint</vt:lpstr>
      <vt:lpstr>Презентация PowerPoint</vt:lpstr>
      <vt:lpstr>Современные технологии разработки баз данных</vt:lpstr>
      <vt:lpstr>Презентация PowerPoint</vt:lpstr>
      <vt:lpstr>Описание предметной области</vt:lpstr>
      <vt:lpstr>Проектирование базы данных</vt:lpstr>
      <vt:lpstr>Презентация PowerPoint</vt:lpstr>
      <vt:lpstr>Проектирование и разработка базы данных ***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Методический отдел колледжа</cp:lastModifiedBy>
  <cp:revision>91</cp:revision>
  <dcterms:created xsi:type="dcterms:W3CDTF">2019-06-04T07:45:07Z</dcterms:created>
  <dcterms:modified xsi:type="dcterms:W3CDTF">2022-06-04T06:12:51Z</dcterms:modified>
</cp:coreProperties>
</file>